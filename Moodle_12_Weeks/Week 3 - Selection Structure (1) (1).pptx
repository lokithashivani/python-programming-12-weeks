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Garamond"/>
      <p:regular r:id="rId35"/>
      <p:bold r:id="rId36"/>
      <p:italic r:id="rId37"/>
      <p:boldItalic r:id="rId38"/>
    </p:embeddedFont>
    <p:embeddedFont>
      <p:font typeface="Fira Sans Extra Condensed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xIrUGgtUnE09nDMv5nsKfQfGp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Medium-bold.fntdata"/><Relationship Id="rId20" Type="http://schemas.openxmlformats.org/officeDocument/2006/relationships/slide" Target="slides/slide15.xml"/><Relationship Id="rId42" Type="http://schemas.openxmlformats.org/officeDocument/2006/relationships/font" Target="fonts/FiraSansExtraCondensedMedium-boldItalic.fntdata"/><Relationship Id="rId41" Type="http://schemas.openxmlformats.org/officeDocument/2006/relationships/font" Target="fonts/FiraSansExtraCondensedMedium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Garamond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schemas.openxmlformats.org/officeDocument/2006/relationships/font" Target="fonts/Garamond-italic.fntdata"/><Relationship Id="rId14" Type="http://schemas.openxmlformats.org/officeDocument/2006/relationships/slide" Target="slides/slide9.xml"/><Relationship Id="rId36" Type="http://schemas.openxmlformats.org/officeDocument/2006/relationships/font" Target="fonts/Garamond-bold.fntdata"/><Relationship Id="rId17" Type="http://schemas.openxmlformats.org/officeDocument/2006/relationships/slide" Target="slides/slide12.xml"/><Relationship Id="rId39" Type="http://schemas.openxmlformats.org/officeDocument/2006/relationships/font" Target="fonts/FiraSansExtraCondensedMedium-regular.fntdata"/><Relationship Id="rId16" Type="http://schemas.openxmlformats.org/officeDocument/2006/relationships/slide" Target="slides/slide11.xml"/><Relationship Id="rId38" Type="http://schemas.openxmlformats.org/officeDocument/2006/relationships/font" Target="fonts/Garamon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/>
          <p:nvPr>
            <p:ph type="ctrTitle"/>
          </p:nvPr>
        </p:nvSpPr>
        <p:spPr>
          <a:xfrm>
            <a:off x="589937" y="1799304"/>
            <a:ext cx="8015750" cy="183617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" type="subTitle"/>
          </p:nvPr>
        </p:nvSpPr>
        <p:spPr>
          <a:xfrm>
            <a:off x="619434" y="3797708"/>
            <a:ext cx="8001000" cy="678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  <a:defRPr b="0" i="0" sz="2800">
                <a:solidFill>
                  <a:srgbClr val="0000CC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501442" y="268583"/>
            <a:ext cx="8259098" cy="763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463714" y="1415846"/>
            <a:ext cx="8246070" cy="3362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–"/>
              <a:defRPr>
                <a:solidFill>
                  <a:srgbClr val="0000CC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  <a:defRPr>
                <a:solidFill>
                  <a:srgbClr val="0000CC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Char char="–"/>
              <a:defRPr>
                <a:solidFill>
                  <a:srgbClr val="0000CC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Char char="»"/>
              <a:defRPr>
                <a:solidFill>
                  <a:srgbClr val="0000CC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2384732" y="539273"/>
            <a:ext cx="6283782" cy="725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0D97"/>
              </a:buClr>
              <a:buSzPts val="3600"/>
              <a:buFont typeface="Calibri"/>
              <a:buNone/>
              <a:defRPr sz="3600">
                <a:solidFill>
                  <a:srgbClr val="FF0D9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2396613" y="1312606"/>
            <a:ext cx="6304935" cy="3508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–"/>
              <a:defRPr>
                <a:solidFill>
                  <a:srgbClr val="0000CC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  <a:defRPr>
                <a:solidFill>
                  <a:srgbClr val="0000CC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Char char="–"/>
              <a:defRPr>
                <a:solidFill>
                  <a:srgbClr val="0000CC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Char char="»"/>
              <a:defRPr>
                <a:solidFill>
                  <a:srgbClr val="0000CC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2" name="Google Shape;52;p3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540067" y="249521"/>
            <a:ext cx="8093365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522131" y="1611271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  <a:defRPr b="1" sz="2400">
                <a:solidFill>
                  <a:srgbClr val="0000CC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522131" y="2083668"/>
            <a:ext cx="4040188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  <a:defRPr sz="2400">
                <a:solidFill>
                  <a:srgbClr val="0000CC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Char char="–"/>
              <a:defRPr sz="2000">
                <a:solidFill>
                  <a:srgbClr val="0000CC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rgbClr val="0000CC"/>
              </a:buClr>
              <a:buSzPts val="1800"/>
              <a:buChar char="•"/>
              <a:defRPr sz="1800">
                <a:solidFill>
                  <a:srgbClr val="0000CC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Char char="–"/>
              <a:defRPr sz="1600">
                <a:solidFill>
                  <a:srgbClr val="0000CC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Char char="»"/>
              <a:defRPr sz="1600">
                <a:solidFill>
                  <a:srgbClr val="0000CC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34"/>
          <p:cNvSpPr txBox="1"/>
          <p:nvPr>
            <p:ph idx="3" type="body"/>
          </p:nvPr>
        </p:nvSpPr>
        <p:spPr>
          <a:xfrm>
            <a:off x="4557252" y="1611271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  <a:defRPr b="1" sz="2400">
                <a:solidFill>
                  <a:srgbClr val="0000CC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4" type="body"/>
          </p:nvPr>
        </p:nvSpPr>
        <p:spPr>
          <a:xfrm>
            <a:off x="4557252" y="2083668"/>
            <a:ext cx="4041775" cy="22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  <a:defRPr sz="2400">
                <a:solidFill>
                  <a:srgbClr val="0000CC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Char char="–"/>
              <a:defRPr sz="2000">
                <a:solidFill>
                  <a:srgbClr val="0000CC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rgbClr val="0000CC"/>
              </a:buClr>
              <a:buSzPts val="1800"/>
              <a:buChar char="•"/>
              <a:defRPr sz="1800">
                <a:solidFill>
                  <a:srgbClr val="0000CC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Char char="–"/>
              <a:defRPr sz="1600">
                <a:solidFill>
                  <a:srgbClr val="0000CC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Char char="»"/>
              <a:defRPr sz="1600">
                <a:solidFill>
                  <a:srgbClr val="0000CC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5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3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:\websites\free-power-point-templates\2012\logos.png" id="91" name="Google Shape;9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6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4402189" y="1817501"/>
            <a:ext cx="4276571" cy="165918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b="1" lang="en-US">
                <a:latin typeface="Garamond"/>
                <a:ea typeface="Garamond"/>
                <a:cs typeface="Garamond"/>
                <a:sym typeface="Garamond"/>
              </a:rPr>
              <a:t>Selection statements</a:t>
            </a:r>
            <a:r>
              <a:rPr b="1" lang="en-US" sz="3600">
                <a:latin typeface="Garamond"/>
                <a:ea typeface="Garamond"/>
                <a:cs typeface="Garamond"/>
                <a:sym typeface="Garamond"/>
              </a:rPr>
              <a:t> in Python</a:t>
            </a:r>
            <a:endParaRPr/>
          </a:p>
        </p:txBody>
      </p:sp>
      <p:pic>
        <p:nvPicPr>
          <p:cNvPr descr="Image result for python symbol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418" y="4058418"/>
            <a:ext cx="1531589" cy="95917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887894" y="358986"/>
            <a:ext cx="581829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PROGRAMMING USING PYTHON</a:t>
            </a:r>
            <a:endParaRPr b="1" sz="16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45307" y="3784495"/>
            <a:ext cx="14716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WEEK 03</a:t>
            </a:r>
            <a:endParaRPr b="1" sz="24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Rajalakshmi Engineering College - Kualoa Ranch PNG Image | Transparent PNG  Free Download on Seek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7676" y="3941398"/>
            <a:ext cx="2869405" cy="1076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1071013" y="1206550"/>
            <a:ext cx="1938041" cy="1631171"/>
            <a:chOff x="1071013" y="1206550"/>
            <a:chExt cx="1938041" cy="1631171"/>
          </a:xfrm>
        </p:grpSpPr>
        <p:sp>
          <p:nvSpPr>
            <p:cNvPr id="107" name="Google Shape;107;p2"/>
            <p:cNvSpPr/>
            <p:nvPr/>
          </p:nvSpPr>
          <p:spPr>
            <a:xfrm>
              <a:off x="2380975" y="2583065"/>
              <a:ext cx="628006" cy="254656"/>
            </a:xfrm>
            <a:custGeom>
              <a:rect b="b" l="l" r="r" t="t"/>
              <a:pathLst>
                <a:path extrusionOk="0" h="8348" w="20587">
                  <a:moveTo>
                    <a:pt x="1" y="1"/>
                  </a:moveTo>
                  <a:lnTo>
                    <a:pt x="1" y="8347"/>
                  </a:lnTo>
                  <a:lnTo>
                    <a:pt x="16598" y="1608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07311" y="1577438"/>
              <a:ext cx="1901743" cy="1005719"/>
            </a:xfrm>
            <a:custGeom>
              <a:rect b="b" l="l" r="r" t="t"/>
              <a:pathLst>
                <a:path extrusionOk="0" h="32969" w="62342">
                  <a:moveTo>
                    <a:pt x="1" y="1"/>
                  </a:moveTo>
                  <a:lnTo>
                    <a:pt x="1" y="29159"/>
                  </a:lnTo>
                  <a:cubicBezTo>
                    <a:pt x="1" y="31254"/>
                    <a:pt x="1715" y="32969"/>
                    <a:pt x="3811" y="32969"/>
                  </a:cubicBezTo>
                  <a:lnTo>
                    <a:pt x="62342" y="32969"/>
                  </a:lnTo>
                  <a:lnTo>
                    <a:pt x="62342" y="3811"/>
                  </a:lnTo>
                  <a:cubicBezTo>
                    <a:pt x="62342" y="1715"/>
                    <a:pt x="60639" y="1"/>
                    <a:pt x="58532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346476" y="2425822"/>
              <a:ext cx="543020" cy="54878"/>
            </a:xfrm>
            <a:custGeom>
              <a:rect b="b" l="l" r="r" t="t"/>
              <a:pathLst>
                <a:path extrusionOk="0" h="1799" w="17801">
                  <a:moveTo>
                    <a:pt x="906" y="0"/>
                  </a:moveTo>
                  <a:cubicBezTo>
                    <a:pt x="406" y="0"/>
                    <a:pt x="1" y="405"/>
                    <a:pt x="1" y="905"/>
                  </a:cubicBezTo>
                  <a:cubicBezTo>
                    <a:pt x="1" y="1393"/>
                    <a:pt x="406" y="1798"/>
                    <a:pt x="906" y="1798"/>
                  </a:cubicBezTo>
                  <a:lnTo>
                    <a:pt x="16908" y="1798"/>
                  </a:lnTo>
                  <a:cubicBezTo>
                    <a:pt x="17396" y="1798"/>
                    <a:pt x="17801" y="1393"/>
                    <a:pt x="17801" y="905"/>
                  </a:cubicBezTo>
                  <a:cubicBezTo>
                    <a:pt x="17801" y="405"/>
                    <a:pt x="17396" y="0"/>
                    <a:pt x="1690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380975" y="2583065"/>
              <a:ext cx="628006" cy="49083"/>
            </a:xfrm>
            <a:custGeom>
              <a:rect b="b" l="l" r="r" t="t"/>
              <a:pathLst>
                <a:path extrusionOk="0" h="1609" w="20587">
                  <a:moveTo>
                    <a:pt x="1" y="1"/>
                  </a:moveTo>
                  <a:lnTo>
                    <a:pt x="1" y="1608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E092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07311" y="1577438"/>
              <a:ext cx="787456" cy="416607"/>
            </a:xfrm>
            <a:custGeom>
              <a:rect b="b" l="l" r="r" t="t"/>
              <a:pathLst>
                <a:path extrusionOk="0" h="13657" w="25814">
                  <a:moveTo>
                    <a:pt x="1" y="1"/>
                  </a:moveTo>
                  <a:lnTo>
                    <a:pt x="1" y="6227"/>
                  </a:lnTo>
                  <a:cubicBezTo>
                    <a:pt x="644" y="7478"/>
                    <a:pt x="1489" y="8633"/>
                    <a:pt x="2513" y="9656"/>
                  </a:cubicBezTo>
                  <a:cubicBezTo>
                    <a:pt x="5085" y="12240"/>
                    <a:pt x="8514" y="13657"/>
                    <a:pt x="12157" y="13657"/>
                  </a:cubicBezTo>
                  <a:cubicBezTo>
                    <a:pt x="15812" y="13657"/>
                    <a:pt x="19241" y="12240"/>
                    <a:pt x="21813" y="9656"/>
                  </a:cubicBezTo>
                  <a:cubicBezTo>
                    <a:pt x="24397" y="7085"/>
                    <a:pt x="25814" y="3644"/>
                    <a:pt x="25814" y="1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71013" y="1206550"/>
              <a:ext cx="814300" cy="741851"/>
            </a:xfrm>
            <a:custGeom>
              <a:rect b="b" l="l" r="r" t="t"/>
              <a:pathLst>
                <a:path extrusionOk="0" h="24319" w="26694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17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17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11673" y="1243581"/>
              <a:ext cx="732974" cy="667785"/>
            </a:xfrm>
            <a:custGeom>
              <a:rect b="b" l="l" r="r" t="t"/>
              <a:pathLst>
                <a:path extrusionOk="0" h="21891" w="24028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5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5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07311" y="2407306"/>
              <a:ext cx="1901743" cy="175800"/>
            </a:xfrm>
            <a:custGeom>
              <a:rect b="b" l="l" r="r" t="t"/>
              <a:pathLst>
                <a:path extrusionOk="0" h="5763" w="62342">
                  <a:moveTo>
                    <a:pt x="1" y="0"/>
                  </a:moveTo>
                  <a:lnTo>
                    <a:pt x="1" y="1953"/>
                  </a:lnTo>
                  <a:cubicBezTo>
                    <a:pt x="1" y="4048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1153945" y="1996166"/>
              <a:ext cx="18084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"/>
                <a:buNone/>
              </a:pPr>
              <a:r>
                <a:rPr lang="en-US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Introduction and types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6552450" y="1264711"/>
            <a:ext cx="1937706" cy="1631171"/>
            <a:chOff x="3603127" y="1206550"/>
            <a:chExt cx="1937706" cy="1631171"/>
          </a:xfrm>
        </p:grpSpPr>
        <p:sp>
          <p:nvSpPr>
            <p:cNvPr id="117" name="Google Shape;117;p2"/>
            <p:cNvSpPr/>
            <p:nvPr/>
          </p:nvSpPr>
          <p:spPr>
            <a:xfrm>
              <a:off x="4913119" y="2583065"/>
              <a:ext cx="627640" cy="254656"/>
            </a:xfrm>
            <a:custGeom>
              <a:rect b="b" l="l" r="r" t="t"/>
              <a:pathLst>
                <a:path extrusionOk="0" h="8348" w="20575">
                  <a:moveTo>
                    <a:pt x="1" y="1"/>
                  </a:moveTo>
                  <a:lnTo>
                    <a:pt x="1" y="8347"/>
                  </a:lnTo>
                  <a:lnTo>
                    <a:pt x="16598" y="1608"/>
                  </a:lnTo>
                  <a:lnTo>
                    <a:pt x="20575" y="1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639456" y="1577438"/>
              <a:ext cx="1901377" cy="1005719"/>
            </a:xfrm>
            <a:custGeom>
              <a:rect b="b" l="l" r="r" t="t"/>
              <a:pathLst>
                <a:path extrusionOk="0" h="32969" w="62330">
                  <a:moveTo>
                    <a:pt x="0" y="1"/>
                  </a:moveTo>
                  <a:lnTo>
                    <a:pt x="0" y="29159"/>
                  </a:lnTo>
                  <a:cubicBezTo>
                    <a:pt x="0" y="31254"/>
                    <a:pt x="1703" y="32969"/>
                    <a:pt x="3810" y="32969"/>
                  </a:cubicBezTo>
                  <a:lnTo>
                    <a:pt x="62330" y="32969"/>
                  </a:lnTo>
                  <a:lnTo>
                    <a:pt x="62330" y="3811"/>
                  </a:lnTo>
                  <a:cubicBezTo>
                    <a:pt x="62330" y="1715"/>
                    <a:pt x="60627" y="1"/>
                    <a:pt x="58532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913119" y="2583065"/>
              <a:ext cx="627640" cy="49083"/>
            </a:xfrm>
            <a:custGeom>
              <a:rect b="b" l="l" r="r" t="t"/>
              <a:pathLst>
                <a:path extrusionOk="0" h="1609" w="20575">
                  <a:moveTo>
                    <a:pt x="1" y="1"/>
                  </a:moveTo>
                  <a:lnTo>
                    <a:pt x="1" y="1608"/>
                  </a:lnTo>
                  <a:lnTo>
                    <a:pt x="20575" y="1"/>
                  </a:lnTo>
                  <a:close/>
                </a:path>
              </a:pathLst>
            </a:custGeom>
            <a:solidFill>
              <a:srgbClr val="4685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639456" y="1577438"/>
              <a:ext cx="787456" cy="416607"/>
            </a:xfrm>
            <a:custGeom>
              <a:rect b="b" l="l" r="r" t="t"/>
              <a:pathLst>
                <a:path extrusionOk="0" h="13657" w="25814">
                  <a:moveTo>
                    <a:pt x="0" y="1"/>
                  </a:moveTo>
                  <a:lnTo>
                    <a:pt x="0" y="6227"/>
                  </a:lnTo>
                  <a:cubicBezTo>
                    <a:pt x="643" y="7478"/>
                    <a:pt x="1477" y="8633"/>
                    <a:pt x="2513" y="9656"/>
                  </a:cubicBezTo>
                  <a:cubicBezTo>
                    <a:pt x="5084" y="12240"/>
                    <a:pt x="8513" y="13657"/>
                    <a:pt x="12157" y="13657"/>
                  </a:cubicBezTo>
                  <a:cubicBezTo>
                    <a:pt x="15800" y="13657"/>
                    <a:pt x="19241" y="12240"/>
                    <a:pt x="21813" y="9656"/>
                  </a:cubicBezTo>
                  <a:cubicBezTo>
                    <a:pt x="24396" y="7085"/>
                    <a:pt x="25813" y="3644"/>
                    <a:pt x="25813" y="1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603127" y="1206550"/>
              <a:ext cx="814331" cy="741851"/>
            </a:xfrm>
            <a:custGeom>
              <a:rect b="b" l="l" r="r" t="t"/>
              <a:pathLst>
                <a:path extrusionOk="0" h="24319" w="26695">
                  <a:moveTo>
                    <a:pt x="13352" y="0"/>
                  </a:moveTo>
                  <a:cubicBezTo>
                    <a:pt x="10240" y="0"/>
                    <a:pt x="7127" y="1188"/>
                    <a:pt x="4751" y="3563"/>
                  </a:cubicBezTo>
                  <a:cubicBezTo>
                    <a:pt x="1" y="8314"/>
                    <a:pt x="1" y="16017"/>
                    <a:pt x="4751" y="20756"/>
                  </a:cubicBezTo>
                  <a:cubicBezTo>
                    <a:pt x="7127" y="23131"/>
                    <a:pt x="10240" y="24319"/>
                    <a:pt x="13352" y="24319"/>
                  </a:cubicBezTo>
                  <a:cubicBezTo>
                    <a:pt x="16464" y="24319"/>
                    <a:pt x="19575" y="23131"/>
                    <a:pt x="21944" y="20756"/>
                  </a:cubicBezTo>
                  <a:cubicBezTo>
                    <a:pt x="26695" y="16017"/>
                    <a:pt x="26695" y="8314"/>
                    <a:pt x="21944" y="3563"/>
                  </a:cubicBezTo>
                  <a:cubicBezTo>
                    <a:pt x="19575" y="1188"/>
                    <a:pt x="16464" y="0"/>
                    <a:pt x="13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643818" y="1243581"/>
              <a:ext cx="732974" cy="667785"/>
            </a:xfrm>
            <a:custGeom>
              <a:rect b="b" l="l" r="r" t="t"/>
              <a:pathLst>
                <a:path extrusionOk="0" h="21891" w="24028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0" y="7481"/>
                    <a:pt x="0" y="14410"/>
                    <a:pt x="4275" y="18685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5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639456" y="2407306"/>
              <a:ext cx="1901377" cy="175800"/>
            </a:xfrm>
            <a:custGeom>
              <a:rect b="b" l="l" r="r" t="t"/>
              <a:pathLst>
                <a:path extrusionOk="0" h="5763" w="62330">
                  <a:moveTo>
                    <a:pt x="0" y="0"/>
                  </a:moveTo>
                  <a:lnTo>
                    <a:pt x="0" y="1953"/>
                  </a:lnTo>
                  <a:cubicBezTo>
                    <a:pt x="0" y="4048"/>
                    <a:pt x="1703" y="5763"/>
                    <a:pt x="3810" y="5763"/>
                  </a:cubicBezTo>
                  <a:lnTo>
                    <a:pt x="62330" y="5763"/>
                  </a:lnTo>
                  <a:lnTo>
                    <a:pt x="62330" y="3810"/>
                  </a:lnTo>
                  <a:lnTo>
                    <a:pt x="3810" y="3810"/>
                  </a:lnTo>
                  <a:cubicBezTo>
                    <a:pt x="1703" y="3810"/>
                    <a:pt x="0" y="2108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873526" y="2425822"/>
              <a:ext cx="543020" cy="54878"/>
            </a:xfrm>
            <a:custGeom>
              <a:rect b="b" l="l" r="r" t="t"/>
              <a:pathLst>
                <a:path extrusionOk="0" h="1799" w="17801">
                  <a:moveTo>
                    <a:pt x="906" y="0"/>
                  </a:moveTo>
                  <a:cubicBezTo>
                    <a:pt x="406" y="0"/>
                    <a:pt x="1" y="405"/>
                    <a:pt x="1" y="905"/>
                  </a:cubicBezTo>
                  <a:cubicBezTo>
                    <a:pt x="1" y="1393"/>
                    <a:pt x="406" y="1798"/>
                    <a:pt x="906" y="1798"/>
                  </a:cubicBezTo>
                  <a:lnTo>
                    <a:pt x="16896" y="1798"/>
                  </a:lnTo>
                  <a:cubicBezTo>
                    <a:pt x="17396" y="1798"/>
                    <a:pt x="17801" y="1393"/>
                    <a:pt x="17801" y="905"/>
                  </a:cubicBezTo>
                  <a:cubicBezTo>
                    <a:pt x="17801" y="405"/>
                    <a:pt x="17396" y="0"/>
                    <a:pt x="16896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685983" y="1996166"/>
              <a:ext cx="18084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"/>
                <a:buNone/>
              </a:pPr>
              <a:r>
                <a:rPr lang="en-US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If else statement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2515471" y="3090967"/>
            <a:ext cx="1937706" cy="1631171"/>
            <a:chOff x="6135271" y="1206550"/>
            <a:chExt cx="1937706" cy="1631171"/>
          </a:xfrm>
        </p:grpSpPr>
        <p:sp>
          <p:nvSpPr>
            <p:cNvPr id="127" name="Google Shape;127;p2"/>
            <p:cNvSpPr/>
            <p:nvPr/>
          </p:nvSpPr>
          <p:spPr>
            <a:xfrm>
              <a:off x="7445264" y="2583065"/>
              <a:ext cx="627640" cy="254656"/>
            </a:xfrm>
            <a:custGeom>
              <a:rect b="b" l="l" r="r" t="t"/>
              <a:pathLst>
                <a:path extrusionOk="0" h="8348" w="20575">
                  <a:moveTo>
                    <a:pt x="0" y="1"/>
                  </a:moveTo>
                  <a:lnTo>
                    <a:pt x="0" y="8347"/>
                  </a:lnTo>
                  <a:lnTo>
                    <a:pt x="16598" y="1608"/>
                  </a:lnTo>
                  <a:lnTo>
                    <a:pt x="20574" y="1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6171600" y="1577438"/>
              <a:ext cx="1901377" cy="1005719"/>
            </a:xfrm>
            <a:custGeom>
              <a:rect b="b" l="l" r="r" t="t"/>
              <a:pathLst>
                <a:path extrusionOk="0" h="32969" w="62330">
                  <a:moveTo>
                    <a:pt x="0" y="1"/>
                  </a:moveTo>
                  <a:lnTo>
                    <a:pt x="0" y="29159"/>
                  </a:lnTo>
                  <a:cubicBezTo>
                    <a:pt x="0" y="31254"/>
                    <a:pt x="1703" y="32969"/>
                    <a:pt x="3810" y="32969"/>
                  </a:cubicBezTo>
                  <a:lnTo>
                    <a:pt x="62329" y="32969"/>
                  </a:lnTo>
                  <a:lnTo>
                    <a:pt x="62329" y="3811"/>
                  </a:lnTo>
                  <a:cubicBezTo>
                    <a:pt x="62329" y="1715"/>
                    <a:pt x="60627" y="1"/>
                    <a:pt x="5853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7445264" y="2583065"/>
              <a:ext cx="627640" cy="49083"/>
            </a:xfrm>
            <a:custGeom>
              <a:rect b="b" l="l" r="r" t="t"/>
              <a:pathLst>
                <a:path extrusionOk="0" h="1609" w="20575">
                  <a:moveTo>
                    <a:pt x="0" y="1"/>
                  </a:moveTo>
                  <a:lnTo>
                    <a:pt x="0" y="1608"/>
                  </a:lnTo>
                  <a:lnTo>
                    <a:pt x="20574" y="1"/>
                  </a:lnTo>
                  <a:close/>
                </a:path>
              </a:pathLst>
            </a:custGeom>
            <a:solidFill>
              <a:srgbClr val="2FC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171600" y="1577438"/>
              <a:ext cx="787426" cy="416607"/>
            </a:xfrm>
            <a:custGeom>
              <a:rect b="b" l="l" r="r" t="t"/>
              <a:pathLst>
                <a:path extrusionOk="0" h="13657" w="25813">
                  <a:moveTo>
                    <a:pt x="0" y="1"/>
                  </a:moveTo>
                  <a:lnTo>
                    <a:pt x="0" y="6227"/>
                  </a:lnTo>
                  <a:cubicBezTo>
                    <a:pt x="643" y="7478"/>
                    <a:pt x="1477" y="8633"/>
                    <a:pt x="2500" y="9656"/>
                  </a:cubicBezTo>
                  <a:cubicBezTo>
                    <a:pt x="5084" y="12240"/>
                    <a:pt x="8513" y="13657"/>
                    <a:pt x="12156" y="13657"/>
                  </a:cubicBezTo>
                  <a:cubicBezTo>
                    <a:pt x="15800" y="13657"/>
                    <a:pt x="19229" y="12240"/>
                    <a:pt x="21812" y="9656"/>
                  </a:cubicBezTo>
                  <a:cubicBezTo>
                    <a:pt x="24396" y="7085"/>
                    <a:pt x="25813" y="3644"/>
                    <a:pt x="25813" y="1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135271" y="1206550"/>
              <a:ext cx="814331" cy="741851"/>
            </a:xfrm>
            <a:custGeom>
              <a:rect b="b" l="l" r="r" t="t"/>
              <a:pathLst>
                <a:path extrusionOk="0" h="24319" w="26695">
                  <a:moveTo>
                    <a:pt x="13347" y="0"/>
                  </a:moveTo>
                  <a:cubicBezTo>
                    <a:pt x="10237" y="0"/>
                    <a:pt x="7126" y="1188"/>
                    <a:pt x="4751" y="3563"/>
                  </a:cubicBezTo>
                  <a:cubicBezTo>
                    <a:pt x="1" y="8314"/>
                    <a:pt x="1" y="16017"/>
                    <a:pt x="4751" y="20756"/>
                  </a:cubicBezTo>
                  <a:cubicBezTo>
                    <a:pt x="7126" y="23131"/>
                    <a:pt x="10237" y="24319"/>
                    <a:pt x="13347" y="24319"/>
                  </a:cubicBezTo>
                  <a:cubicBezTo>
                    <a:pt x="16458" y="24319"/>
                    <a:pt x="19568" y="23131"/>
                    <a:pt x="21944" y="20756"/>
                  </a:cubicBezTo>
                  <a:cubicBezTo>
                    <a:pt x="26694" y="16017"/>
                    <a:pt x="26694" y="8314"/>
                    <a:pt x="21944" y="3563"/>
                  </a:cubicBezTo>
                  <a:cubicBezTo>
                    <a:pt x="19568" y="1188"/>
                    <a:pt x="16458" y="0"/>
                    <a:pt x="13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175962" y="1243581"/>
              <a:ext cx="732944" cy="667785"/>
            </a:xfrm>
            <a:custGeom>
              <a:rect b="b" l="l" r="r" t="t"/>
              <a:pathLst>
                <a:path extrusionOk="0" h="21891" w="24027">
                  <a:moveTo>
                    <a:pt x="12013" y="1"/>
                  </a:moveTo>
                  <a:cubicBezTo>
                    <a:pt x="9212" y="1"/>
                    <a:pt x="6412" y="1069"/>
                    <a:pt x="4274" y="3206"/>
                  </a:cubicBezTo>
                  <a:cubicBezTo>
                    <a:pt x="0" y="7481"/>
                    <a:pt x="0" y="14410"/>
                    <a:pt x="4274" y="18685"/>
                  </a:cubicBezTo>
                  <a:cubicBezTo>
                    <a:pt x="6412" y="20822"/>
                    <a:pt x="9212" y="21890"/>
                    <a:pt x="12013" y="21890"/>
                  </a:cubicBezTo>
                  <a:cubicBezTo>
                    <a:pt x="14814" y="21890"/>
                    <a:pt x="17615" y="20822"/>
                    <a:pt x="19752" y="18685"/>
                  </a:cubicBezTo>
                  <a:cubicBezTo>
                    <a:pt x="24027" y="14410"/>
                    <a:pt x="24027" y="7481"/>
                    <a:pt x="19752" y="3206"/>
                  </a:cubicBezTo>
                  <a:cubicBezTo>
                    <a:pt x="17615" y="1069"/>
                    <a:pt x="14814" y="1"/>
                    <a:pt x="12013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6171600" y="2407306"/>
              <a:ext cx="1901377" cy="175800"/>
            </a:xfrm>
            <a:custGeom>
              <a:rect b="b" l="l" r="r" t="t"/>
              <a:pathLst>
                <a:path extrusionOk="0" h="5763" w="62330">
                  <a:moveTo>
                    <a:pt x="0" y="0"/>
                  </a:moveTo>
                  <a:lnTo>
                    <a:pt x="0" y="1953"/>
                  </a:lnTo>
                  <a:cubicBezTo>
                    <a:pt x="0" y="4048"/>
                    <a:pt x="1703" y="5763"/>
                    <a:pt x="3810" y="5763"/>
                  </a:cubicBezTo>
                  <a:lnTo>
                    <a:pt x="62329" y="5763"/>
                  </a:lnTo>
                  <a:lnTo>
                    <a:pt x="62329" y="3810"/>
                  </a:lnTo>
                  <a:lnTo>
                    <a:pt x="3810" y="3810"/>
                  </a:lnTo>
                  <a:cubicBezTo>
                    <a:pt x="1703" y="3810"/>
                    <a:pt x="0" y="2108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05671" y="2425822"/>
              <a:ext cx="543020" cy="54878"/>
            </a:xfrm>
            <a:custGeom>
              <a:rect b="b" l="l" r="r" t="t"/>
              <a:pathLst>
                <a:path extrusionOk="0" h="1799" w="17801">
                  <a:moveTo>
                    <a:pt x="905" y="0"/>
                  </a:moveTo>
                  <a:cubicBezTo>
                    <a:pt x="405" y="0"/>
                    <a:pt x="1" y="405"/>
                    <a:pt x="1" y="905"/>
                  </a:cubicBezTo>
                  <a:cubicBezTo>
                    <a:pt x="1" y="1393"/>
                    <a:pt x="405" y="1798"/>
                    <a:pt x="905" y="1798"/>
                  </a:cubicBezTo>
                  <a:lnTo>
                    <a:pt x="16896" y="1798"/>
                  </a:lnTo>
                  <a:cubicBezTo>
                    <a:pt x="17396" y="1798"/>
                    <a:pt x="17800" y="1393"/>
                    <a:pt x="17800" y="905"/>
                  </a:cubicBezTo>
                  <a:cubicBezTo>
                    <a:pt x="17800" y="405"/>
                    <a:pt x="17396" y="0"/>
                    <a:pt x="16896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6181655" y="1938981"/>
              <a:ext cx="18084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"/>
                <a:buNone/>
              </a:pPr>
              <a:r>
                <a:rPr lang="en-US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If elif else ladder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5539423" y="3149128"/>
            <a:ext cx="1938041" cy="1631171"/>
            <a:chOff x="1071013" y="2670884"/>
            <a:chExt cx="1938041" cy="1631171"/>
          </a:xfrm>
        </p:grpSpPr>
        <p:sp>
          <p:nvSpPr>
            <p:cNvPr id="137" name="Google Shape;137;p2"/>
            <p:cNvSpPr/>
            <p:nvPr/>
          </p:nvSpPr>
          <p:spPr>
            <a:xfrm>
              <a:off x="2380975" y="4047033"/>
              <a:ext cx="628006" cy="255022"/>
            </a:xfrm>
            <a:custGeom>
              <a:rect b="b" l="l" r="r" t="t"/>
              <a:pathLst>
                <a:path extrusionOk="0" h="8360" w="20587">
                  <a:moveTo>
                    <a:pt x="1" y="1"/>
                  </a:moveTo>
                  <a:lnTo>
                    <a:pt x="1" y="8359"/>
                  </a:lnTo>
                  <a:lnTo>
                    <a:pt x="16598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107311" y="3041771"/>
              <a:ext cx="1901743" cy="1005353"/>
            </a:xfrm>
            <a:custGeom>
              <a:rect b="b" l="l" r="r" t="t"/>
              <a:pathLst>
                <a:path extrusionOk="0" h="32957" w="62342">
                  <a:moveTo>
                    <a:pt x="1" y="0"/>
                  </a:moveTo>
                  <a:lnTo>
                    <a:pt x="1" y="29147"/>
                  </a:lnTo>
                  <a:cubicBezTo>
                    <a:pt x="1" y="31254"/>
                    <a:pt x="1715" y="32957"/>
                    <a:pt x="3811" y="32957"/>
                  </a:cubicBezTo>
                  <a:lnTo>
                    <a:pt x="62342" y="32957"/>
                  </a:lnTo>
                  <a:lnTo>
                    <a:pt x="62342" y="3810"/>
                  </a:lnTo>
                  <a:cubicBezTo>
                    <a:pt x="62342" y="1703"/>
                    <a:pt x="60639" y="0"/>
                    <a:pt x="5853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2380975" y="4047033"/>
              <a:ext cx="628006" cy="49449"/>
            </a:xfrm>
            <a:custGeom>
              <a:rect b="b" l="l" r="r" t="t"/>
              <a:pathLst>
                <a:path extrusionOk="0" h="1621" w="20587">
                  <a:moveTo>
                    <a:pt x="1" y="1"/>
                  </a:moveTo>
                  <a:lnTo>
                    <a:pt x="1" y="1620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2020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07311" y="3041771"/>
              <a:ext cx="787456" cy="416607"/>
            </a:xfrm>
            <a:custGeom>
              <a:rect b="b" l="l" r="r" t="t"/>
              <a:pathLst>
                <a:path extrusionOk="0" h="13657" w="25814">
                  <a:moveTo>
                    <a:pt x="1" y="0"/>
                  </a:moveTo>
                  <a:lnTo>
                    <a:pt x="1" y="6215"/>
                  </a:lnTo>
                  <a:cubicBezTo>
                    <a:pt x="644" y="7478"/>
                    <a:pt x="1489" y="8632"/>
                    <a:pt x="2513" y="9656"/>
                  </a:cubicBezTo>
                  <a:cubicBezTo>
                    <a:pt x="5085" y="12228"/>
                    <a:pt x="8514" y="13657"/>
                    <a:pt x="12157" y="13657"/>
                  </a:cubicBezTo>
                  <a:cubicBezTo>
                    <a:pt x="15812" y="13657"/>
                    <a:pt x="19241" y="12228"/>
                    <a:pt x="21813" y="9656"/>
                  </a:cubicBezTo>
                  <a:cubicBezTo>
                    <a:pt x="24397" y="7073"/>
                    <a:pt x="25814" y="3644"/>
                    <a:pt x="25814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071013" y="2670884"/>
              <a:ext cx="814300" cy="741851"/>
            </a:xfrm>
            <a:custGeom>
              <a:rect b="b" l="l" r="r" t="t"/>
              <a:pathLst>
                <a:path extrusionOk="0" h="24319" w="26694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05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05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111673" y="2707915"/>
              <a:ext cx="732974" cy="667785"/>
            </a:xfrm>
            <a:custGeom>
              <a:rect b="b" l="l" r="r" t="t"/>
              <a:pathLst>
                <a:path extrusionOk="0" h="21891" w="24028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4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4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05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107311" y="3871274"/>
              <a:ext cx="1901743" cy="175800"/>
            </a:xfrm>
            <a:custGeom>
              <a:rect b="b" l="l" r="r" t="t"/>
              <a:pathLst>
                <a:path extrusionOk="0" h="5763" w="62342">
                  <a:moveTo>
                    <a:pt x="1" y="0"/>
                  </a:moveTo>
                  <a:lnTo>
                    <a:pt x="1" y="1953"/>
                  </a:lnTo>
                  <a:cubicBezTo>
                    <a:pt x="1" y="4060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2346476" y="3904309"/>
              <a:ext cx="543020" cy="54878"/>
            </a:xfrm>
            <a:custGeom>
              <a:rect b="b" l="l" r="r" t="t"/>
              <a:pathLst>
                <a:path extrusionOk="0" h="1799" w="17801">
                  <a:moveTo>
                    <a:pt x="906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99"/>
                    <a:pt x="906" y="1799"/>
                  </a:cubicBezTo>
                  <a:lnTo>
                    <a:pt x="16908" y="1799"/>
                  </a:lnTo>
                  <a:cubicBezTo>
                    <a:pt x="17396" y="1799"/>
                    <a:pt x="17801" y="1394"/>
                    <a:pt x="17801" y="894"/>
                  </a:cubicBezTo>
                  <a:cubicBezTo>
                    <a:pt x="17801" y="406"/>
                    <a:pt x="17396" y="1"/>
                    <a:pt x="16908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1153945" y="3468580"/>
              <a:ext cx="18084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"/>
                <a:buNone/>
              </a:pPr>
              <a:r>
                <a:rPr lang="en-US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Nested if</a:t>
              </a:r>
              <a:endParaRPr/>
            </a:p>
          </p:txBody>
        </p:sp>
      </p:grpSp>
      <p:sp>
        <p:nvSpPr>
          <p:cNvPr id="146" name="Google Shape;146;p2"/>
          <p:cNvSpPr txBox="1"/>
          <p:nvPr>
            <p:ph type="title"/>
          </p:nvPr>
        </p:nvSpPr>
        <p:spPr>
          <a:xfrm>
            <a:off x="2586620" y="246517"/>
            <a:ext cx="8093365" cy="725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aramond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CONTENTS</a:t>
            </a:r>
            <a:endParaRPr/>
          </a:p>
        </p:txBody>
      </p:sp>
      <p:grpSp>
        <p:nvGrpSpPr>
          <p:cNvPr id="147" name="Google Shape;147;p2"/>
          <p:cNvGrpSpPr/>
          <p:nvPr/>
        </p:nvGrpSpPr>
        <p:grpSpPr>
          <a:xfrm>
            <a:off x="3904432" y="1233950"/>
            <a:ext cx="1938041" cy="1631171"/>
            <a:chOff x="1071013" y="1206550"/>
            <a:chExt cx="1938041" cy="1631171"/>
          </a:xfrm>
        </p:grpSpPr>
        <p:sp>
          <p:nvSpPr>
            <p:cNvPr id="148" name="Google Shape;148;p2"/>
            <p:cNvSpPr/>
            <p:nvPr/>
          </p:nvSpPr>
          <p:spPr>
            <a:xfrm>
              <a:off x="2380975" y="2583065"/>
              <a:ext cx="628006" cy="254656"/>
            </a:xfrm>
            <a:custGeom>
              <a:rect b="b" l="l" r="r" t="t"/>
              <a:pathLst>
                <a:path extrusionOk="0" h="8348" w="20587">
                  <a:moveTo>
                    <a:pt x="1" y="1"/>
                  </a:moveTo>
                  <a:lnTo>
                    <a:pt x="1" y="8347"/>
                  </a:lnTo>
                  <a:lnTo>
                    <a:pt x="16598" y="1608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07311" y="1577438"/>
              <a:ext cx="1901743" cy="1005719"/>
            </a:xfrm>
            <a:custGeom>
              <a:rect b="b" l="l" r="r" t="t"/>
              <a:pathLst>
                <a:path extrusionOk="0" h="32969" w="62342">
                  <a:moveTo>
                    <a:pt x="1" y="1"/>
                  </a:moveTo>
                  <a:lnTo>
                    <a:pt x="1" y="29159"/>
                  </a:lnTo>
                  <a:cubicBezTo>
                    <a:pt x="1" y="31254"/>
                    <a:pt x="1715" y="32969"/>
                    <a:pt x="3811" y="32969"/>
                  </a:cubicBezTo>
                  <a:lnTo>
                    <a:pt x="62342" y="32969"/>
                  </a:lnTo>
                  <a:lnTo>
                    <a:pt x="62342" y="3811"/>
                  </a:lnTo>
                  <a:cubicBezTo>
                    <a:pt x="62342" y="1715"/>
                    <a:pt x="60639" y="1"/>
                    <a:pt x="58532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346476" y="2425822"/>
              <a:ext cx="543020" cy="54878"/>
            </a:xfrm>
            <a:custGeom>
              <a:rect b="b" l="l" r="r" t="t"/>
              <a:pathLst>
                <a:path extrusionOk="0" h="1799" w="17801">
                  <a:moveTo>
                    <a:pt x="906" y="0"/>
                  </a:moveTo>
                  <a:cubicBezTo>
                    <a:pt x="406" y="0"/>
                    <a:pt x="1" y="405"/>
                    <a:pt x="1" y="905"/>
                  </a:cubicBezTo>
                  <a:cubicBezTo>
                    <a:pt x="1" y="1393"/>
                    <a:pt x="406" y="1798"/>
                    <a:pt x="906" y="1798"/>
                  </a:cubicBezTo>
                  <a:lnTo>
                    <a:pt x="16908" y="1798"/>
                  </a:lnTo>
                  <a:cubicBezTo>
                    <a:pt x="17396" y="1798"/>
                    <a:pt x="17801" y="1393"/>
                    <a:pt x="17801" y="905"/>
                  </a:cubicBezTo>
                  <a:cubicBezTo>
                    <a:pt x="17801" y="405"/>
                    <a:pt x="17396" y="0"/>
                    <a:pt x="1690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380975" y="2583065"/>
              <a:ext cx="628006" cy="49083"/>
            </a:xfrm>
            <a:custGeom>
              <a:rect b="b" l="l" r="r" t="t"/>
              <a:pathLst>
                <a:path extrusionOk="0" h="1609" w="20587">
                  <a:moveTo>
                    <a:pt x="1" y="1"/>
                  </a:moveTo>
                  <a:lnTo>
                    <a:pt x="1" y="1608"/>
                  </a:lnTo>
                  <a:lnTo>
                    <a:pt x="20587" y="1"/>
                  </a:lnTo>
                  <a:close/>
                </a:path>
              </a:pathLst>
            </a:custGeom>
            <a:solidFill>
              <a:srgbClr val="E092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107311" y="1577438"/>
              <a:ext cx="787456" cy="416607"/>
            </a:xfrm>
            <a:custGeom>
              <a:rect b="b" l="l" r="r" t="t"/>
              <a:pathLst>
                <a:path extrusionOk="0" h="13657" w="25814">
                  <a:moveTo>
                    <a:pt x="1" y="1"/>
                  </a:moveTo>
                  <a:lnTo>
                    <a:pt x="1" y="6227"/>
                  </a:lnTo>
                  <a:cubicBezTo>
                    <a:pt x="644" y="7478"/>
                    <a:pt x="1489" y="8633"/>
                    <a:pt x="2513" y="9656"/>
                  </a:cubicBezTo>
                  <a:cubicBezTo>
                    <a:pt x="5085" y="12240"/>
                    <a:pt x="8514" y="13657"/>
                    <a:pt x="12157" y="13657"/>
                  </a:cubicBezTo>
                  <a:cubicBezTo>
                    <a:pt x="15812" y="13657"/>
                    <a:pt x="19241" y="12240"/>
                    <a:pt x="21813" y="9656"/>
                  </a:cubicBezTo>
                  <a:cubicBezTo>
                    <a:pt x="24397" y="7085"/>
                    <a:pt x="25814" y="3644"/>
                    <a:pt x="25814" y="1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071013" y="1206550"/>
              <a:ext cx="814300" cy="741851"/>
            </a:xfrm>
            <a:custGeom>
              <a:rect b="b" l="l" r="r" t="t"/>
              <a:pathLst>
                <a:path extrusionOk="0" h="24319" w="26694">
                  <a:moveTo>
                    <a:pt x="13353" y="0"/>
                  </a:moveTo>
                  <a:cubicBezTo>
                    <a:pt x="10240" y="0"/>
                    <a:pt x="7126" y="1188"/>
                    <a:pt x="4751" y="3563"/>
                  </a:cubicBezTo>
                  <a:cubicBezTo>
                    <a:pt x="0" y="8314"/>
                    <a:pt x="0" y="16017"/>
                    <a:pt x="4751" y="20756"/>
                  </a:cubicBezTo>
                  <a:cubicBezTo>
                    <a:pt x="7126" y="23131"/>
                    <a:pt x="10240" y="24319"/>
                    <a:pt x="13353" y="24319"/>
                  </a:cubicBezTo>
                  <a:cubicBezTo>
                    <a:pt x="16466" y="24319"/>
                    <a:pt x="19580" y="23131"/>
                    <a:pt x="21955" y="20756"/>
                  </a:cubicBezTo>
                  <a:cubicBezTo>
                    <a:pt x="26694" y="16017"/>
                    <a:pt x="26694" y="8314"/>
                    <a:pt x="21955" y="3563"/>
                  </a:cubicBezTo>
                  <a:cubicBezTo>
                    <a:pt x="19580" y="1188"/>
                    <a:pt x="16466" y="0"/>
                    <a:pt x="1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111673" y="1243581"/>
              <a:ext cx="732974" cy="667785"/>
            </a:xfrm>
            <a:custGeom>
              <a:rect b="b" l="l" r="r" t="t"/>
              <a:pathLst>
                <a:path extrusionOk="0" h="21891" w="24028">
                  <a:moveTo>
                    <a:pt x="12014" y="1"/>
                  </a:moveTo>
                  <a:cubicBezTo>
                    <a:pt x="9213" y="1"/>
                    <a:pt x="6412" y="1069"/>
                    <a:pt x="4275" y="3206"/>
                  </a:cubicBezTo>
                  <a:cubicBezTo>
                    <a:pt x="1" y="7481"/>
                    <a:pt x="1" y="14410"/>
                    <a:pt x="4275" y="18685"/>
                  </a:cubicBezTo>
                  <a:cubicBezTo>
                    <a:pt x="6412" y="20822"/>
                    <a:pt x="9213" y="21890"/>
                    <a:pt x="12014" y="21890"/>
                  </a:cubicBezTo>
                  <a:cubicBezTo>
                    <a:pt x="14815" y="21890"/>
                    <a:pt x="17616" y="20822"/>
                    <a:pt x="19753" y="18685"/>
                  </a:cubicBezTo>
                  <a:cubicBezTo>
                    <a:pt x="24027" y="14410"/>
                    <a:pt x="24027" y="7481"/>
                    <a:pt x="19753" y="3206"/>
                  </a:cubicBezTo>
                  <a:cubicBezTo>
                    <a:pt x="17616" y="1069"/>
                    <a:pt x="14815" y="1"/>
                    <a:pt x="12014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107311" y="2407306"/>
              <a:ext cx="1901743" cy="175800"/>
            </a:xfrm>
            <a:custGeom>
              <a:rect b="b" l="l" r="r" t="t"/>
              <a:pathLst>
                <a:path extrusionOk="0" h="5763" w="62342">
                  <a:moveTo>
                    <a:pt x="1" y="0"/>
                  </a:moveTo>
                  <a:lnTo>
                    <a:pt x="1" y="1953"/>
                  </a:lnTo>
                  <a:cubicBezTo>
                    <a:pt x="1" y="4048"/>
                    <a:pt x="1703" y="5763"/>
                    <a:pt x="3811" y="5763"/>
                  </a:cubicBezTo>
                  <a:lnTo>
                    <a:pt x="62342" y="5763"/>
                  </a:lnTo>
                  <a:lnTo>
                    <a:pt x="62342" y="3810"/>
                  </a:lnTo>
                  <a:lnTo>
                    <a:pt x="3811" y="3810"/>
                  </a:lnTo>
                  <a:cubicBezTo>
                    <a:pt x="1703" y="3810"/>
                    <a:pt x="1" y="2108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1153945" y="1996166"/>
              <a:ext cx="18084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"/>
                <a:buNone/>
              </a:pPr>
              <a:r>
                <a:rPr lang="en-US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If statement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3848126" y="152823"/>
            <a:ext cx="5099447" cy="977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aramond"/>
              <a:buNone/>
            </a:pPr>
            <a:r>
              <a:rPr b="1" lang="en-US" sz="2800">
                <a:latin typeface="Garamond"/>
                <a:ea typeface="Garamond"/>
                <a:cs typeface="Garamond"/>
                <a:sym typeface="Garamond"/>
              </a:rPr>
              <a:t>SELECTION STRUCTURE</a:t>
            </a:r>
            <a:endParaRPr b="1"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406400" y="1408853"/>
            <a:ext cx="5825068" cy="352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Arial"/>
              <a:buNone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	</a:t>
            </a:r>
            <a:r>
              <a:rPr lang="en-US" sz="20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Need: </a:t>
            </a: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 real life ,we need to make decisions and based on these decisions, we perform a set of actions. Similar situations arise in programming also where we need to make some decisions and based on these decisions we will execute  a specific block of code.</a:t>
            </a:r>
            <a:endParaRPr/>
          </a:p>
          <a:p>
            <a:pPr indent="-342900" lvl="0" marL="342900" rtl="0" algn="just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Such process in a programming language is termed as Selection Structure.</a:t>
            </a:r>
            <a:endParaRPr/>
          </a:p>
          <a:p>
            <a:pPr indent="-342900" lvl="0" marL="342900" rtl="0" algn="just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Selection structures decides the direction of flow of program execution. </a:t>
            </a:r>
            <a:endParaRPr/>
          </a:p>
          <a:p>
            <a:pPr indent="-342900" lvl="0" marL="342900" rtl="0" algn="just">
              <a:spcBef>
                <a:spcPts val="37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0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Selection Structure is also known as Decision Making Statements.</a:t>
            </a:r>
            <a:endParaRPr sz="2000"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526" y="2082190"/>
            <a:ext cx="2719028" cy="1752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501442" y="268583"/>
            <a:ext cx="8259098" cy="763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aramond"/>
              <a:buNone/>
            </a:pPr>
            <a:r>
              <a:rPr b="1" lang="en-US" sz="2800">
                <a:latin typeface="Garamond"/>
                <a:ea typeface="Garamond"/>
                <a:cs typeface="Garamond"/>
                <a:sym typeface="Garamond"/>
              </a:rPr>
              <a:t>Selection Control Structures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1142976" y="2000246"/>
            <a:ext cx="2137870" cy="610820"/>
          </a:xfrm>
          <a:prstGeom prst="flowChartAlternateProcess">
            <a:avLst/>
          </a:prstGeom>
          <a:solidFill>
            <a:srgbClr val="CC00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 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416664" y="1960930"/>
            <a:ext cx="2137870" cy="610820"/>
          </a:xfrm>
          <a:prstGeom prst="flowChartAlternateProcess">
            <a:avLst/>
          </a:prstGeom>
          <a:solidFill>
            <a:srgbClr val="36609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if-else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214414" y="3357568"/>
            <a:ext cx="2137870" cy="610820"/>
          </a:xfrm>
          <a:prstGeom prst="flowChartAlternateProcess">
            <a:avLst/>
          </a:prstGeom>
          <a:solidFill>
            <a:srgbClr val="95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if-elif-else ladder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5416664" y="3357568"/>
            <a:ext cx="2137870" cy="610820"/>
          </a:xfrm>
          <a:prstGeom prst="flowChartAlternateProcess">
            <a:avLst/>
          </a:prstGeom>
          <a:solidFill>
            <a:srgbClr val="B2A0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Nested if-else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idx="1" type="body"/>
          </p:nvPr>
        </p:nvSpPr>
        <p:spPr>
          <a:xfrm>
            <a:off x="283846" y="1304389"/>
            <a:ext cx="8470265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The if statement contains a logical expression using which data is  compared and a decision is made based on the result of the comparison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519053" y="274803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 statement</a:t>
            </a:r>
            <a:endParaRPr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4988" y="2497148"/>
            <a:ext cx="3863675" cy="21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4057860" y="1649783"/>
            <a:ext cx="4716917" cy="2723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program evaluates the test expression and will execute statement block only if the test expression is True.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the test expression is false it will not execute the statement block.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6" name="Google Shape;186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4519054" y="274803"/>
            <a:ext cx="43540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 statement</a:t>
            </a:r>
            <a:endParaRPr/>
          </a:p>
        </p:txBody>
      </p:sp>
      <p:pic>
        <p:nvPicPr>
          <p:cNvPr descr="conditionals_if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439" y="1649783"/>
            <a:ext cx="3867421" cy="225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/>
        </p:nvSpPr>
        <p:spPr>
          <a:xfrm>
            <a:off x="4572000" y="300226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Example Programs</a:t>
            </a:r>
            <a:endParaRPr/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12" y="1550187"/>
            <a:ext cx="7795936" cy="137934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425" y="3480587"/>
            <a:ext cx="3394908" cy="101903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1332" y="3407209"/>
            <a:ext cx="3113381" cy="1092414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1849339" y="1618784"/>
            <a:ext cx="5926447" cy="3144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 1: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value = float(input("Enter the Bike Kilometeres:"))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if(value &gt; 2500):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  print("Need to Change Bike Oil")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print(“done”)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 2: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amount = float(input("Enter the amount:"))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if(amount &gt; 40000):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  print("Your Daily withdrawl amount exceeds the limit")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print(“done”)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rgbClr val="0000CC"/>
              </a:buClr>
              <a:buSzPct val="100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4572000" y="300226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Example Programs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283846" y="1304389"/>
            <a:ext cx="8470265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A second form of the if statement is ‚alternative execution, in which there are two possibilities and the condition determines which one runs.</a:t>
            </a:r>
            <a:endParaRPr/>
          </a:p>
          <a:p>
            <a:pPr indent="-15240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the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conditional expression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in the if statement is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TRUE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then the 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block of code get executed.</a:t>
            </a:r>
            <a:endParaRPr/>
          </a:p>
          <a:p>
            <a:pPr indent="-15240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An if the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conditional expression 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 the if statement  is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FALSE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then the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else block of code gets executed.</a:t>
            </a:r>
            <a:endParaRPr/>
          </a:p>
          <a:p>
            <a:pPr indent="-15240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There can be at most only one else statement following if.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4519053" y="274803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if-else statement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/>
        </p:nvSpPr>
        <p:spPr>
          <a:xfrm>
            <a:off x="4519054" y="274803"/>
            <a:ext cx="43540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if-else statement</a:t>
            </a:r>
            <a:endParaRPr/>
          </a:p>
        </p:txBody>
      </p:sp>
      <p:pic>
        <p:nvPicPr>
          <p:cNvPr id="214" name="Google Shape;2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444" y="1708463"/>
            <a:ext cx="3901778" cy="2552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9307" y="1442016"/>
            <a:ext cx="2384471" cy="343131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7748693" y="1293707"/>
            <a:ext cx="636863" cy="5847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/>
        </p:nvSpPr>
        <p:spPr>
          <a:xfrm>
            <a:off x="4572000" y="300226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Example Programs</a:t>
            </a:r>
            <a:endParaRPr/>
          </a:p>
        </p:txBody>
      </p:sp>
      <p:pic>
        <p:nvPicPr>
          <p:cNvPr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6880" y="1510453"/>
            <a:ext cx="3563493" cy="29300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141" y="2214880"/>
            <a:ext cx="4668017" cy="110710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>
            <p:ph idx="1" type="body"/>
          </p:nvPr>
        </p:nvSpPr>
        <p:spPr>
          <a:xfrm>
            <a:off x="1808699" y="1144651"/>
            <a:ext cx="5926447" cy="3144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 1:</a:t>
            </a:r>
            <a:endParaRPr b="1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value = float(input("Enter the Bike Kilometeres:"))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if(value &gt; 2500):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  print("Need to Change Bike Oil")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else: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  print(“Can drive”)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 2: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amount = float(input("Enter the amount:"))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if(amount &gt; 40000):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  print("Your Daily withdrawl amount exceeds the limit")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else: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  print(“Withdraw”)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4572000" y="300226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Example Programs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>
            <p:ph idx="1" type="body"/>
          </p:nvPr>
        </p:nvSpPr>
        <p:spPr>
          <a:xfrm>
            <a:off x="283846" y="1304389"/>
            <a:ext cx="8470265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Sometimes there will be a necessity to evaluate more than one condition to make a decision. One way to express a computation like that is a </a:t>
            </a:r>
            <a:r>
              <a:rPr b="1"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chained conditional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5240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elif statement allows you to check multiple expressions for TRUE and execute a block of code as soon as one of the conditions evaluates to TRUE.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4519053" y="274803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if-elif-else statement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/>
        </p:nvSpPr>
        <p:spPr>
          <a:xfrm>
            <a:off x="4519054" y="274803"/>
            <a:ext cx="43540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If-elif-else statement</a:t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7748693" y="1293707"/>
            <a:ext cx="636863" cy="5847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cision Making Statements In Python"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2671" y="1442719"/>
            <a:ext cx="3893023" cy="332676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 txBox="1"/>
          <p:nvPr/>
        </p:nvSpPr>
        <p:spPr>
          <a:xfrm>
            <a:off x="856827" y="1213275"/>
            <a:ext cx="458554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b="1"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Syntax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if(test-condition-1):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statement-1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elif(test-condition-2):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statement-2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 . .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 . .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elif(test-condition-n):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statement-n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else: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default-statement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statement-x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/>
        </p:nvSpPr>
        <p:spPr>
          <a:xfrm>
            <a:off x="4519054" y="274803"/>
            <a:ext cx="43540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If-elif-else statement</a:t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7748693" y="1293707"/>
            <a:ext cx="636863" cy="5847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487511" y="1293707"/>
            <a:ext cx="795883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 elif is short for else if. It allows us to check for multiple expressions.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the condition for if is False, it checks the condition of the next elif block and so on.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all the conditions are False, the body of else is executed.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Only one block among the several if...elif...else blocks is executed according to the condition.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 if block can have only one else block. But it can have multiple elif blocks.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/>
        </p:nvSpPr>
        <p:spPr>
          <a:xfrm>
            <a:off x="4572000" y="300226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Example Programs</a:t>
            </a:r>
            <a:endParaRPr/>
          </a:p>
        </p:txBody>
      </p:sp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79" y="2330762"/>
            <a:ext cx="4332844" cy="141489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57" name="Google Shape;2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411" y="1463052"/>
            <a:ext cx="3262460" cy="320906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>
            <p:ph idx="1" type="body"/>
          </p:nvPr>
        </p:nvSpPr>
        <p:spPr>
          <a:xfrm>
            <a:off x="283846" y="1304389"/>
            <a:ext cx="8470265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There may be a situation when you want to check for another condition after a condition resolves to true. In such a situation, you can use the nested if construct.</a:t>
            </a:r>
            <a:endParaRPr/>
          </a:p>
          <a:p>
            <a:pPr indent="-15240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Any kind of selection structure can be nested within another selection structure.</a:t>
            </a:r>
            <a:endParaRPr/>
          </a:p>
          <a:p>
            <a:pPr indent="-15240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 the given syntax we will show one particular example.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4519053" y="274803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Nested if statement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/>
          <p:nvPr/>
        </p:nvSpPr>
        <p:spPr>
          <a:xfrm>
            <a:off x="4519054" y="274803"/>
            <a:ext cx="43540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Nested if statement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7748693" y="1293707"/>
            <a:ext cx="636863" cy="5847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18"/>
          <p:cNvGrpSpPr/>
          <p:nvPr/>
        </p:nvGrpSpPr>
        <p:grpSpPr>
          <a:xfrm>
            <a:off x="4620136" y="1340484"/>
            <a:ext cx="3851666" cy="3579862"/>
            <a:chOff x="4620136" y="1340484"/>
            <a:chExt cx="3851666" cy="3579862"/>
          </a:xfrm>
        </p:grpSpPr>
        <p:pic>
          <p:nvPicPr>
            <p:cNvPr descr="Python if statement | What is Python if else statement? | Examples" id="271" name="Google Shape;2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136" y="1340484"/>
              <a:ext cx="3851666" cy="3579862"/>
            </a:xfrm>
            <a:prstGeom prst="rect">
              <a:avLst/>
            </a:prstGeom>
            <a:solidFill>
              <a:srgbClr val="ECECEC"/>
            </a:solidFill>
            <a:ln cap="sq" cmpd="sng" w="889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5000" rotWithShape="0" algn="tl" dir="5400000" dist="18000">
                <a:srgbClr val="000000">
                  <a:alpha val="40000"/>
                </a:srgbClr>
              </a:outerShdw>
            </a:effectLst>
          </p:spPr>
        </p:pic>
        <p:sp>
          <p:nvSpPr>
            <p:cNvPr id="272" name="Google Shape;272;p18"/>
            <p:cNvSpPr/>
            <p:nvPr/>
          </p:nvSpPr>
          <p:spPr>
            <a:xfrm>
              <a:off x="7198415" y="4208297"/>
              <a:ext cx="1273387" cy="65701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8"/>
          <p:cNvSpPr txBox="1"/>
          <p:nvPr/>
        </p:nvSpPr>
        <p:spPr>
          <a:xfrm>
            <a:off x="758444" y="1622974"/>
            <a:ext cx="352213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Syntax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if(test-condition-1):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if(test-condition-2):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	statement-1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else: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	statement-2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else: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	statement-3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statement-x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/>
        </p:nvSpPr>
        <p:spPr>
          <a:xfrm>
            <a:off x="4572000" y="300226"/>
            <a:ext cx="5308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Example Programs</a:t>
            </a:r>
            <a:endParaRPr/>
          </a:p>
        </p:txBody>
      </p:sp>
      <p:pic>
        <p:nvPicPr>
          <p:cNvPr id="279" name="Google Shape;2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9411" y="1463052"/>
            <a:ext cx="3262460" cy="320906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280" name="Google Shape;2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821" y="2174240"/>
            <a:ext cx="4465336" cy="158042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/>
        </p:nvSpPr>
        <p:spPr>
          <a:xfrm>
            <a:off x="4966884" y="245463"/>
            <a:ext cx="380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to be solved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611560" y="1510777"/>
            <a:ext cx="792088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toy vendor supplies three types of toys: Battery Based Toys, Key-based Toys, and Electrical Charging Based Toys. The vendor gives a discount of 10% on orders for battery-based toys if the order is for more than Rs. 1000. On orders of more than Rs. 100 for key-based toys, a discount of 5% is given, and a discount of 10% is given on orders for electrical charging based toys of value more than Rs. 500. Assume that the numeric codes 1,2 and 3 are used for battery based toys, key-based toys, and electrical charging based toys respectively. Write a program that reads the product code and the order amount and prints out the net amount that the customer is required to pay after the discount.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/>
          <p:nvPr/>
        </p:nvSpPr>
        <p:spPr>
          <a:xfrm>
            <a:off x="4966884" y="245463"/>
            <a:ext cx="380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to be solved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11560" y="1510777"/>
            <a:ext cx="79208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python program to find the greatest of three numbers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/>
        </p:nvSpPr>
        <p:spPr>
          <a:xfrm>
            <a:off x="4966884" y="245463"/>
            <a:ext cx="380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to be solved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560334" y="1496923"/>
            <a:ext cx="792088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 f is defined as follows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 f(x)   =    ax</a:t>
            </a:r>
            <a:r>
              <a:rPr b="0" baseline="3000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– bx</a:t>
            </a:r>
            <a:r>
              <a:rPr b="0" baseline="3000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+ cx –d,                  if x &gt;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 =    0,                                             if x =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 =    -ax</a:t>
            </a:r>
            <a:r>
              <a:rPr b="0" baseline="3000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+ bx</a:t>
            </a:r>
            <a:r>
              <a:rPr b="0" baseline="3000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– cx +d,                 if x &lt;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Write a program that reads a, b, c, d, k and x and prints the value of f(x).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/>
          <p:nvPr/>
        </p:nvSpPr>
        <p:spPr>
          <a:xfrm>
            <a:off x="4966884" y="245463"/>
            <a:ext cx="380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to be solved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560334" y="1496923"/>
            <a:ext cx="7920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any two positive integer numbers (say n1 &amp; n2) and one character type operator (say opr). Note that opr is any mathematical operator.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Depending upon the operator, do the appropriate operation. e. g. if opr is ‘+’ then the display the value obtained by evaluating the expression (n1 + n2).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966884" y="245463"/>
            <a:ext cx="380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to be solved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560334" y="1496923"/>
            <a:ext cx="792088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transport company charges the fare according to following table: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4B4F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	Charges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1-50	8 Rs./Km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51-100	10 Rs./Km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100	12 Rs/Km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Ask user to enter the distance and compute the fare.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/>
          <p:nvPr/>
        </p:nvSpPr>
        <p:spPr>
          <a:xfrm>
            <a:off x="4966884" y="245463"/>
            <a:ext cx="380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to be solved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560334" y="1496923"/>
            <a:ext cx="79208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4F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whether the given number is of one digited or two digited or three digited or more than three digited.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4B4F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2017-08-01T15:40:51Z</dcterms:created>
</cp:coreProperties>
</file>